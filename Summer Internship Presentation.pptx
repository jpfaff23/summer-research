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0"/>
  </p:notesMasterIdLst>
  <p:sldIdLst>
    <p:sldId id="256" r:id="rId2"/>
    <p:sldId id="264" r:id="rId3"/>
    <p:sldId id="257" r:id="rId4"/>
    <p:sldId id="265" r:id="rId5"/>
    <p:sldId id="261" r:id="rId6"/>
    <p:sldId id="262" r:id="rId7"/>
    <p:sldId id="263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842DD-0CAF-4CE4-BCF6-443FB895630B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F42DB-45E0-4BC6-946E-38B0B6E343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74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F42DB-45E0-4BC6-946E-38B0B6E34308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319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F42DB-45E0-4BC6-946E-38B0B6E3430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767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A496-0087-4606-F3C6-2882E12CC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2FB6A-6056-60EA-6EAC-A4053441E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F0563-6EF6-069F-12ED-98FF8DD8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FD431-33E5-30E9-E4D5-353EAAE0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F1C0C-582E-47B3-69C3-352A2F3C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585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9F341-97A9-AA20-CD70-86C5C7BEE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7AB2C-4D9A-27E0-5E61-2D9FADD29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A5406-BFB4-CB1D-053B-615D335BE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58860-D4AC-9537-F765-4328492A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76143-EE5E-966E-1830-4F797CDCD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89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1205-367E-A8BE-840F-59404608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FA7E6-D1C1-38AD-F1CF-E65E77EF8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B69E2-1409-4160-6F46-2D78D8C38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65199-BE13-E0DE-2C92-8C2ABEE6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90312-E226-C45D-8557-B2644214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76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9A9A7-AB26-4519-63FB-1B074ED73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665CC-3AFD-D5B1-42AD-AAF980B92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5FEAEC-DB7D-DB29-0C1F-FDF75EEFD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0B2D3-D12B-294A-5D95-52407D84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73ADB-8D3F-7FD5-6667-14C15AC5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431A5-B7B7-8102-64BF-8A5D8D61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5173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D7FF2-764B-9A30-E7F1-110B043C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B0A8C-2658-B542-63C0-CA43A3094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5A997-EFC7-F0A4-EA64-9E494CBBF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3AB3D-702F-B793-215D-2B3F69E34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ECBF5-54FB-12EB-0167-C63CB34F8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90BD2-A76E-7BCD-DD45-2FC382DC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7B315C-408A-A610-E3E5-87AD00F43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89585A-7394-2199-2C0F-42D6FABF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7621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336A-B3B6-E9FC-6C89-BC8A1882D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175044-C5CB-C9DC-3043-231E868B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CE7A5-BEC1-474F-C503-17014C82F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39213-1E48-4DA1-09F4-ED2C4B03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6031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245D0A-7BA8-9CF7-D277-DEE7BD6EF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C3C2F-98AB-635E-69A6-132C7C94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CAA45-EAC7-3253-EC09-8946FE06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87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0DC2C-67C0-7E66-8646-C6BBAD2F1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F72FE-8272-F74F-D8A5-4A8BB96DE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E475B-7019-9324-D9E6-EB6CFF0A6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5B56E-675C-4A01-EC26-03EADEAA9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F7A1D-AEE5-77BE-51CE-DA8D4CB1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0BC9A-8683-E60E-FB60-756CA08B1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309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ADF7-6E49-2E5D-E4DC-1E4E1D1C3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F3A4B-507C-D510-B93D-829092B4E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79468-981F-E150-2686-A8CC7BC49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E9B70-27F0-6A92-0AD2-5C39934B3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78C52-8941-FEBE-253A-D8B0C42E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9B10E-EB2B-E460-7E45-0F5D5FA58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5806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C54BC-3FFD-6050-FD01-BD8C2B18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8A7B2-0119-7FA6-87C9-C1C0BF491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4B692-FFBD-C3B3-A380-1F2C95EFF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FEC8D-1B93-3356-0888-9D2F9DF0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0D69A-9B81-AA76-701E-FCFFC224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1905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3CCA7A-8E0E-50CF-F78F-2E8D8D954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1C3DC-0EC3-B361-1E87-AE74C2D41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4C502-6DCB-CADC-80BC-2837958B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D417-50B6-7101-37C6-4BB8B5A13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C3528-892C-B093-2E9C-16331744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263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62B2D-0F9B-6B80-5AD3-7D42A3C17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BAD08-73AC-5E1D-91A1-AB36E16ED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D5D17-830F-F367-8A4C-41AEB8A66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444D3-8E2A-435D-9AC7-7480586B32A0}" type="datetimeFigureOut">
              <a:rPr lang="en-CA" smtClean="0"/>
              <a:t>2026-05-20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25351-C81A-7562-1603-A8FB1A684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911C3-6384-E262-2E24-C96F62571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B854E-C1A0-42E2-834F-373EE68B75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722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4354A-FE72-93C6-5282-0E761CE57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Neural Greeks for Worst-of Basket Options</a:t>
            </a:r>
            <a:endParaRPr lang="en-CA" sz="48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8B741-3BE2-71C1-FB7A-154537349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Research Internship Project, Summer 2025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Jackson Pfaff</a:t>
            </a:r>
            <a:endParaRPr lang="en-CA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97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4C192-B72A-87A2-EE94-397F5E54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972" y="500818"/>
            <a:ext cx="10760054" cy="1228299"/>
          </a:xfrm>
        </p:spPr>
        <p:txBody>
          <a:bodyPr>
            <a:normAutofit/>
          </a:bodyPr>
          <a:lstStyle/>
          <a:p>
            <a:r>
              <a:rPr lang="en-CA" sz="4000" dirty="0"/>
              <a:t>Quick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4C8B-C295-3307-2745-30B30C32E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388" y="1969358"/>
            <a:ext cx="4864875" cy="3850724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Worst-of Basket Option:</a:t>
            </a:r>
            <a:r>
              <a:rPr lang="en-US" sz="1900" dirty="0"/>
              <a:t> exotic derivative where payoff depends on the worst-performing asset in the basket.</a:t>
            </a:r>
          </a:p>
          <a:p>
            <a:r>
              <a:rPr lang="en-US" sz="1900" b="1" dirty="0"/>
              <a:t>Finite Differences (FD): </a:t>
            </a:r>
            <a:r>
              <a:rPr lang="en-US" sz="1900" dirty="0"/>
              <a:t>bump an input, re-run Monte Carlo → get Greeks (accurate but slow).</a:t>
            </a:r>
          </a:p>
          <a:p>
            <a:r>
              <a:rPr lang="en-US" sz="1900" b="1" dirty="0"/>
              <a:t>Adjoint Algorithmic Differentiation (AAD): </a:t>
            </a:r>
            <a:r>
              <a:rPr lang="en-US" sz="1900" dirty="0"/>
              <a:t>reverse-mode differentiation → all Greeks in one pass (faster, still costly).</a:t>
            </a:r>
          </a:p>
          <a:p>
            <a:r>
              <a:rPr lang="en-US" sz="1900" b="1" dirty="0"/>
              <a:t>Neural Networks (NNs): </a:t>
            </a:r>
            <a:r>
              <a:rPr lang="en-US" sz="1900" dirty="0"/>
              <a:t>machine learning models that can approximate option prices and Greeks at constant-time inference.</a:t>
            </a:r>
            <a:endParaRPr lang="en-CA" sz="1900" dirty="0"/>
          </a:p>
        </p:txBody>
      </p:sp>
      <p:pic>
        <p:nvPicPr>
          <p:cNvPr id="4" name="Picture 3" descr="A black and white diagram of a network&#10;&#10;AI-generated content may be incorrect.">
            <a:extLst>
              <a:ext uri="{FF2B5EF4-FFF2-40B4-BE49-F238E27FC236}">
                <a16:creationId xmlns:a16="http://schemas.microsoft.com/office/drawing/2014/main" id="{11441F19-C395-6C62-BE46-0E02E00DE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2930630"/>
            <a:ext cx="5178206" cy="258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98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7AB06-36F6-59FA-073A-62FC6E1B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CA" sz="4000" dirty="0"/>
              <a:t>Project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ACB6DA-6417-DD31-C8B2-28E010CD2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2470244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Worst-of basket options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are highly challenging to model because their payoffs exhibit 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steep curvature, discontinuities, and extreme sensitivity to correlation structures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 Small changes in inputs can lead to large swings in option value and Greeks.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 practice,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Monte Carlo simulation with Adjoint Algorithmic Differentiation (AAD)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is the 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industry gold standard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for accurate pricing and Greeks. However, at portfolio scale, it is prohibitively expensive, requiring billions of paths across thousands of scenarios.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research question: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Can neural networks act as efficient surrogates — delivering the same accuracy as Monte Carlo + AAD, but at constant-time inference speeds suitable for production risk systems?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network formed by white dots">
            <a:extLst>
              <a:ext uri="{FF2B5EF4-FFF2-40B4-BE49-F238E27FC236}">
                <a16:creationId xmlns:a16="http://schemas.microsoft.com/office/drawing/2014/main" id="{9BBAD10A-D743-85D4-BE6F-7689D855B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203" r="2" b="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29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D1877-B5B3-5B6B-E317-EEB0EEB98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198822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CA" sz="4000" dirty="0"/>
              <a:t>Pipeline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84A33-497C-88E8-B511-FDAD042AC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4" y="1544083"/>
            <a:ext cx="4080361" cy="3769834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Generate data with Monte Carlo (FD &amp; AAD)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Train neural networks (ANP &amp; DHN)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Compare accuracy, Greeks, and speed</a:t>
            </a:r>
            <a:endParaRPr lang="en-CA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Connected">
            <a:extLst>
              <a:ext uri="{FF2B5EF4-FFF2-40B4-BE49-F238E27FC236}">
                <a16:creationId xmlns:a16="http://schemas.microsoft.com/office/drawing/2014/main" id="{2B3CC6B2-9B81-4DA9-AF06-EE6890E0FD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0" y="761902"/>
            <a:ext cx="5334197" cy="533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70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27FE2F-459A-705F-2913-D56F15770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B2C4A9-B165-F146-EDD6-1071504B3B11}"/>
              </a:ext>
            </a:extLst>
          </p:cNvPr>
          <p:cNvSpPr txBox="1"/>
          <p:nvPr/>
        </p:nvSpPr>
        <p:spPr>
          <a:xfrm>
            <a:off x="7190509" y="2357888"/>
            <a:ext cx="4265370" cy="3902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Finite Differences (FD): ~1000 seconds per 1k rows (too slow for portfolios).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Adjoint Algorithmic Differentiation (AAD): ~322 seconds per 1k rows (better, but still costly).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Neural Nets (ANP &amp; DHN): ~0.002 seconds per 1k rows (constant-time, ~10⁵× faster)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Portfolio context: Monte Carlo overall ≈ hours → Neural Nets ≈ milliseconds.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6AD118C-EBC7-F700-59A1-B6FA283D46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035687"/>
              </p:ext>
            </p:extLst>
          </p:nvPr>
        </p:nvGraphicFramePr>
        <p:xfrm>
          <a:off x="1502329" y="2357888"/>
          <a:ext cx="4272544" cy="3775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720">
                  <a:extLst>
                    <a:ext uri="{9D8B030D-6E8A-4147-A177-3AD203B41FA5}">
                      <a16:colId xmlns:a16="http://schemas.microsoft.com/office/drawing/2014/main" val="100365040"/>
                    </a:ext>
                  </a:extLst>
                </a:gridCol>
                <a:gridCol w="934728">
                  <a:extLst>
                    <a:ext uri="{9D8B030D-6E8A-4147-A177-3AD203B41FA5}">
                      <a16:colId xmlns:a16="http://schemas.microsoft.com/office/drawing/2014/main" val="3341938813"/>
                    </a:ext>
                  </a:extLst>
                </a:gridCol>
                <a:gridCol w="975345">
                  <a:extLst>
                    <a:ext uri="{9D8B030D-6E8A-4147-A177-3AD203B41FA5}">
                      <a16:colId xmlns:a16="http://schemas.microsoft.com/office/drawing/2014/main" val="770832768"/>
                    </a:ext>
                  </a:extLst>
                </a:gridCol>
                <a:gridCol w="785798">
                  <a:extLst>
                    <a:ext uri="{9D8B030D-6E8A-4147-A177-3AD203B41FA5}">
                      <a16:colId xmlns:a16="http://schemas.microsoft.com/office/drawing/2014/main" val="1759729984"/>
                    </a:ext>
                  </a:extLst>
                </a:gridCol>
                <a:gridCol w="817953">
                  <a:extLst>
                    <a:ext uri="{9D8B030D-6E8A-4147-A177-3AD203B41FA5}">
                      <a16:colId xmlns:a16="http://schemas.microsoft.com/office/drawing/2014/main" val="2133751988"/>
                    </a:ext>
                  </a:extLst>
                </a:gridCol>
              </a:tblGrid>
              <a:tr h="53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Model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Quantity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MAE (avg)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RMSE (avg)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R² (avg)</a:t>
                      </a:r>
                    </a:p>
                  </a:txBody>
                  <a:tcPr marL="77946" marR="77946" marT="38972" marB="38972" anchor="ctr"/>
                </a:tc>
                <a:extLst>
                  <a:ext uri="{0D108BD9-81ED-4DB2-BD59-A6C34878D82A}">
                    <a16:rowId xmlns:a16="http://schemas.microsoft.com/office/drawing/2014/main" val="3553360"/>
                  </a:ext>
                </a:extLst>
              </a:tr>
              <a:tr h="53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ANP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Price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1.63e-03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2.38e-03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0.9999</a:t>
                      </a:r>
                    </a:p>
                  </a:txBody>
                  <a:tcPr marL="77946" marR="77946" marT="38972" marB="38972" anchor="ctr"/>
                </a:tc>
                <a:extLst>
                  <a:ext uri="{0D108BD9-81ED-4DB2-BD59-A6C34878D82A}">
                    <a16:rowId xmlns:a16="http://schemas.microsoft.com/office/drawing/2014/main" val="3236250839"/>
                  </a:ext>
                </a:extLst>
              </a:tr>
              <a:tr h="53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ANP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Delta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9.54e-03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1.71e-02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0.9931</a:t>
                      </a:r>
                    </a:p>
                  </a:txBody>
                  <a:tcPr marL="77946" marR="77946" marT="38972" marB="38972" anchor="ctr"/>
                </a:tc>
                <a:extLst>
                  <a:ext uri="{0D108BD9-81ED-4DB2-BD59-A6C34878D82A}">
                    <a16:rowId xmlns:a16="http://schemas.microsoft.com/office/drawing/2014/main" val="54143861"/>
                  </a:ext>
                </a:extLst>
              </a:tr>
              <a:tr h="53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ANP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Vega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1.61e-02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2.55e-02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0.9830</a:t>
                      </a:r>
                    </a:p>
                  </a:txBody>
                  <a:tcPr marL="77946" marR="77946" marT="38972" marB="38972" anchor="ctr"/>
                </a:tc>
                <a:extLst>
                  <a:ext uri="{0D108BD9-81ED-4DB2-BD59-A6C34878D82A}">
                    <a16:rowId xmlns:a16="http://schemas.microsoft.com/office/drawing/2014/main" val="102958482"/>
                  </a:ext>
                </a:extLst>
              </a:tr>
              <a:tr h="53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DHN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Price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2.76e-03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3.52e-03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0.9999</a:t>
                      </a:r>
                    </a:p>
                  </a:txBody>
                  <a:tcPr marL="77946" marR="77946" marT="38972" marB="38972" anchor="ctr"/>
                </a:tc>
                <a:extLst>
                  <a:ext uri="{0D108BD9-81ED-4DB2-BD59-A6C34878D82A}">
                    <a16:rowId xmlns:a16="http://schemas.microsoft.com/office/drawing/2014/main" val="3435227613"/>
                  </a:ext>
                </a:extLst>
              </a:tr>
              <a:tr h="53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DHN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Delta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2.07e-03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3.95e-03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0.9997</a:t>
                      </a:r>
                    </a:p>
                  </a:txBody>
                  <a:tcPr marL="77946" marR="77946" marT="38972" marB="38972" anchor="ctr"/>
                </a:tc>
                <a:extLst>
                  <a:ext uri="{0D108BD9-81ED-4DB2-BD59-A6C34878D82A}">
                    <a16:rowId xmlns:a16="http://schemas.microsoft.com/office/drawing/2014/main" val="1713405204"/>
                  </a:ext>
                </a:extLst>
              </a:tr>
              <a:tr h="53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DHN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Vega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3.11e-03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5.01e-03</a:t>
                      </a:r>
                    </a:p>
                  </a:txBody>
                  <a:tcPr marL="77946" marR="77946" marT="38972" marB="38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0.9994</a:t>
                      </a:r>
                    </a:p>
                  </a:txBody>
                  <a:tcPr marL="77946" marR="77946" marT="38972" marB="38972" anchor="ctr"/>
                </a:tc>
                <a:extLst>
                  <a:ext uri="{0D108BD9-81ED-4DB2-BD59-A6C34878D82A}">
                    <a16:rowId xmlns:a16="http://schemas.microsoft.com/office/drawing/2014/main" val="3902587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456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C539D-2885-5096-5A6B-FCD50FA67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18" y="94489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CA" sz="4000" dirty="0"/>
              <a:t>Skills Gained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01A05C-6BA7-4E3E-C891-2FA096669C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4919" y="1802731"/>
            <a:ext cx="4080361" cy="37698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Hard Skills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Python (GPU parallelism, NN packages)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Differentiation &amp; quantitative math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Benchmarking &amp; performance analysis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Soft Skills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Collaboration &amp; meeting deadlines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Version control (GitHub, Markdown, code documentation)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Pen placed on top of a signature line">
            <a:extLst>
              <a:ext uri="{FF2B5EF4-FFF2-40B4-BE49-F238E27FC236}">
                <a16:creationId xmlns:a16="http://schemas.microsoft.com/office/drawing/2014/main" id="{703EA15A-5AB1-F302-96DC-D2AEE5FB51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301" r="2407" b="-1"/>
          <a:stretch>
            <a:fillRect/>
          </a:stretch>
        </p:blipFill>
        <p:spPr>
          <a:xfrm>
            <a:off x="6936840" y="737488"/>
            <a:ext cx="3652517" cy="538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3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paper airplane flying the opposite way as many grey paper airplanes">
            <a:extLst>
              <a:ext uri="{FF2B5EF4-FFF2-40B4-BE49-F238E27FC236}">
                <a16:creationId xmlns:a16="http://schemas.microsoft.com/office/drawing/2014/main" id="{15D7A8ED-9136-CC96-8577-BE154A6008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08" r="34233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5A5E82-F0D8-5245-1509-CE34126C5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CA" sz="4000"/>
              <a:t>Career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C29E3-E1A5-45AB-2247-876A16427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6" y="1777137"/>
            <a:ext cx="5247340" cy="311587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Primarily interested in Risk Management</a:t>
            </a:r>
          </a:p>
          <a:p>
            <a:r>
              <a:rPr lang="en-US" sz="2000" dirty="0"/>
              <a:t>Also open to XVA and Financial Modelling</a:t>
            </a:r>
          </a:p>
          <a:p>
            <a:r>
              <a:rPr lang="en-US" sz="2000" dirty="0"/>
              <a:t>Most motivated when I can focus on building models</a:t>
            </a:r>
          </a:p>
        </p:txBody>
      </p:sp>
    </p:spTree>
    <p:extLst>
      <p:ext uri="{BB962C8B-B14F-4D97-AF65-F5344CB8AC3E}">
        <p14:creationId xmlns:p14="http://schemas.microsoft.com/office/powerpoint/2010/main" val="2769933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89624-50E6-7972-CE3F-7AED3CD45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 / End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56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2992</TotalTime>
  <Words>417</Words>
  <Application>Microsoft Office PowerPoint</Application>
  <PresentationFormat>Widescreen</PresentationFormat>
  <Paragraphs>74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Neural Greeks for Worst-of Basket Options</vt:lpstr>
      <vt:lpstr>Quick Terminology</vt:lpstr>
      <vt:lpstr>Project Overview</vt:lpstr>
      <vt:lpstr>Pipeline </vt:lpstr>
      <vt:lpstr>Results </vt:lpstr>
      <vt:lpstr>Skills Gained</vt:lpstr>
      <vt:lpstr>Career Goals</vt:lpstr>
      <vt:lpstr>Questions / End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Jackson Pfaff</dc:creator>
  <cp:lastModifiedBy>Jackson Pfaff</cp:lastModifiedBy>
  <cp:revision>2</cp:revision>
  <dcterms:created xsi:type="dcterms:W3CDTF">2025-09-03T02:16:06Z</dcterms:created>
  <dcterms:modified xsi:type="dcterms:W3CDTF">2026-05-21T02:53:08Z</dcterms:modified>
</cp:coreProperties>
</file>